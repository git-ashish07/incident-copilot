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Calibri"/>
              </a:rPr>
              <a:t>IncidentPilot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C9D6E8"/>
                </a:solidFill>
                <a:latin typeface="Calibri"/>
              </a:rPr>
              <a:t>An AI Incident-Response Diagnosis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dirty="0">
                <a:solidFill>
                  <a:srgbClr val="9AACC7"/>
                </a:solidFill>
                <a:latin typeface="Calibri"/>
              </a:rPr>
              <a:t>RAG-Grounded </a:t>
            </a:r>
            <a:r>
              <a:rPr lang="en-IN" sz="1500" b="0" dirty="0">
                <a:solidFill>
                  <a:srgbClr val="9AACC7"/>
                </a:solidFill>
                <a:latin typeface="Calibri"/>
              </a:rPr>
              <a:t>Diagnosis </a:t>
            </a:r>
            <a:r>
              <a:rPr sz="1500" b="0" dirty="0">
                <a:solidFill>
                  <a:srgbClr val="9AACC7"/>
                </a:solidFill>
                <a:latin typeface="Calibri"/>
              </a:rPr>
              <a:t>•  Human-Gated Actions  •  Cited, Verifiable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7A8CA8"/>
                </a:solidFill>
                <a:latin typeface="Calibri"/>
              </a:rPr>
              <a:t>Week 1 — Foundations, RAG &amp; UI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12D3F5-718C-C16B-2278-FE8088A176B7}"/>
              </a:ext>
            </a:extLst>
          </p:cNvPr>
          <p:cNvSpPr txBox="1"/>
          <p:nvPr/>
        </p:nvSpPr>
        <p:spPr>
          <a:xfrm>
            <a:off x="815187" y="4983480"/>
            <a:ext cx="1033272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2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/>
              </a:rPr>
              <a:t>Team: Ashish Rathore | Pratik Desai | Kartik | Naveen</a:t>
            </a:r>
            <a:endParaRPr sz="2000" b="1" dirty="0">
              <a:solidFill>
                <a:schemeClr val="accent3">
                  <a:lumMod val="60000"/>
                  <a:lumOff val="40000"/>
                </a:schemeClr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F2A44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88720" cy="38100"/>
          </a:xfrm>
          <a:prstGeom prst="rect">
            <a:avLst/>
          </a:prstGeom>
          <a:solidFill>
            <a:srgbClr val="E0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3657600" cy="502920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07A3E"/>
                </a:solidFill>
                <a:latin typeface="Calibri"/>
              </a:rPr>
              <a:t>THE PERSONA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A44"/>
                </a:solidFill>
                <a:latin typeface="Calibri"/>
              </a:rPr>
              <a:t>Alex Kim, SRE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108960" cy="22268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dirty="0">
                <a:solidFill>
                  <a:srgbClr val="222222"/>
                </a:solidFill>
                <a:latin typeface="Calibri"/>
              </a:rPr>
              <a:t>On a rotating on-call schedule. Gets paged at 2am for a service degradation and needs to </a:t>
            </a:r>
            <a:r>
              <a:rPr lang="en-IN" sz="1400" dirty="0">
                <a:solidFill>
                  <a:srgbClr val="222222"/>
                </a:solidFill>
                <a:latin typeface="Calibri"/>
              </a:rPr>
              <a:t>diagnose</a:t>
            </a:r>
            <a:r>
              <a:rPr sz="1400" b="0" dirty="0">
                <a:solidFill>
                  <a:srgbClr val="222222"/>
                </a:solidFill>
                <a:latin typeface="Calibri"/>
              </a:rPr>
              <a:t> fast:</a:t>
            </a:r>
          </a:p>
          <a:p>
            <a:pPr algn="l">
              <a:lnSpc>
                <a:spcPct val="125000"/>
              </a:lnSpc>
            </a:pPr>
            <a:endParaRPr sz="1400" b="0" dirty="0">
              <a:solidFill>
                <a:srgbClr val="222222"/>
              </a:solidFill>
              <a:latin typeface="Calibri"/>
            </a:endParaRPr>
          </a:p>
          <a:p>
            <a:pPr algn="l">
              <a:lnSpc>
                <a:spcPct val="125000"/>
              </a:lnSpc>
            </a:pPr>
            <a:r>
              <a:rPr sz="1400" b="0" dirty="0">
                <a:solidFill>
                  <a:srgbClr val="222222"/>
                </a:solidFill>
                <a:latin typeface="Calibri"/>
              </a:rPr>
              <a:t>• What changed recently?</a:t>
            </a:r>
          </a:p>
          <a:p>
            <a:pPr algn="l">
              <a:lnSpc>
                <a:spcPct val="125000"/>
              </a:lnSpc>
            </a:pPr>
            <a:r>
              <a:rPr sz="1400" b="0" dirty="0">
                <a:solidFill>
                  <a:srgbClr val="222222"/>
                </a:solidFill>
                <a:latin typeface="Calibri"/>
              </a:rPr>
              <a:t>• Has this happened before?</a:t>
            </a:r>
          </a:p>
          <a:p>
            <a:pPr algn="l">
              <a:lnSpc>
                <a:spcPct val="125000"/>
              </a:lnSpc>
            </a:pPr>
            <a:r>
              <a:rPr sz="1400" b="0" dirty="0">
                <a:solidFill>
                  <a:srgbClr val="222222"/>
                </a:solidFill>
                <a:latin typeface="Calibri"/>
              </a:rPr>
              <a:t>• What does the runbook say?</a:t>
            </a:r>
          </a:p>
          <a:p>
            <a:pPr algn="l">
              <a:lnSpc>
                <a:spcPct val="125000"/>
              </a:lnSpc>
            </a:pPr>
            <a:r>
              <a:rPr sz="1400" b="0" dirty="0">
                <a:solidFill>
                  <a:srgbClr val="222222"/>
                </a:solidFill>
                <a:latin typeface="Calibri"/>
              </a:rPr>
              <a:t>• What's the blast radius?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371600"/>
            <a:ext cx="7223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07A3E"/>
                </a:solidFill>
                <a:latin typeface="Calibri"/>
              </a:rPr>
              <a:t>THE PAIN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737360"/>
            <a:ext cx="7223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Digging through scattered runbooks, old postmortems, and log dashboards under pressure is slow and error-prone.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Recalling a similar past incident from memory, under stress, at 2am, is unreliable.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A wrong or hallucinated answer during an active incident is worse than no answer.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794760"/>
            <a:ext cx="7223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07A3E"/>
                </a:solidFill>
                <a:latin typeface="Calibri"/>
              </a:rPr>
              <a:t>THE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4160520"/>
            <a:ext cx="7223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F2A44"/>
                </a:solidFill>
                <a:latin typeface="Calibri"/>
              </a:rPr>
              <a:t>Cut mean-time-to-diagnosis — not necessarily mean-time-to-fix-without-a-human.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5029200"/>
            <a:ext cx="7223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07A3E"/>
                </a:solidFill>
                <a:latin typeface="Calibri"/>
              </a:rPr>
              <a:t>THE CONSTRAINT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5394960"/>
            <a:ext cx="7223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The copilot must never take an autonomous production action (deploy/rollback/hotfix) — it diagnoses and recommends; a human always executes.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73952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7B"/>
                </a:solidFill>
                <a:latin typeface="Calibri"/>
              </a:rPr>
              <a:t>IncidentPilot — Week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3F175-B57D-9D38-B1E9-D6C85D8B9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26AF3D-F201-23C4-9D8B-ED345DC2F2D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75342C-2CE1-856A-FB4B-DFB4A4C0757C}"/>
              </a:ext>
            </a:extLst>
          </p:cNvPr>
          <p:cNvSpPr txBox="1"/>
          <p:nvPr/>
        </p:nvSpPr>
        <p:spPr>
          <a:xfrm>
            <a:off x="457200" y="320040"/>
            <a:ext cx="91440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IN" sz="3200" b="1" dirty="0">
                <a:solidFill>
                  <a:srgbClr val="1F2A44"/>
                </a:solidFill>
                <a:latin typeface="Calibri"/>
              </a:rPr>
              <a:t>What we worked on</a:t>
            </a:r>
            <a:endParaRPr sz="3200" b="1" dirty="0">
              <a:solidFill>
                <a:srgbClr val="1F2A44"/>
              </a:solidFill>
              <a:latin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4D0340-5012-1471-007C-50763FA7AAAD}"/>
              </a:ext>
            </a:extLst>
          </p:cNvPr>
          <p:cNvSpPr/>
          <p:nvPr/>
        </p:nvSpPr>
        <p:spPr>
          <a:xfrm>
            <a:off x="457200" y="960120"/>
            <a:ext cx="1188720" cy="38100"/>
          </a:xfrm>
          <a:prstGeom prst="rect">
            <a:avLst/>
          </a:prstGeom>
          <a:solidFill>
            <a:srgbClr val="E0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42DA1F-8A16-EDBB-DA57-A6776211D4FB}"/>
              </a:ext>
            </a:extLst>
          </p:cNvPr>
          <p:cNvSpPr txBox="1"/>
          <p:nvPr/>
        </p:nvSpPr>
        <p:spPr>
          <a:xfrm>
            <a:off x="457200" y="1338424"/>
            <a:ext cx="7223760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AutoNum type="arabicPeriod"/>
            </a:pPr>
            <a:r>
              <a:rPr lang="en-IN" sz="2000" b="0" dirty="0">
                <a:solidFill>
                  <a:srgbClr val="222222"/>
                </a:solidFill>
                <a:latin typeface="Calibri"/>
              </a:rPr>
              <a:t>Problem statement &amp; Requirements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IN" sz="2000" dirty="0">
                <a:solidFill>
                  <a:srgbClr val="222222"/>
                </a:solidFill>
                <a:latin typeface="Calibri"/>
              </a:rPr>
              <a:t>Tech stack: kept it simple</a:t>
            </a:r>
            <a:endParaRPr lang="en-IN" sz="2000" b="0" dirty="0">
              <a:solidFill>
                <a:srgbClr val="222222"/>
              </a:solidFill>
              <a:latin typeface="Calibri"/>
            </a:endParaRP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IN" sz="2000" dirty="0">
                <a:solidFill>
                  <a:srgbClr val="222222"/>
                </a:solidFill>
                <a:latin typeface="Calibri"/>
              </a:rPr>
              <a:t>System prompt : tone &amp; no-action rule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IN" sz="2000" b="0" dirty="0">
                <a:solidFill>
                  <a:srgbClr val="222222"/>
                </a:solidFill>
                <a:latin typeface="Calibri"/>
              </a:rPr>
              <a:t>Figuring out the data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IN" sz="2000" dirty="0">
                <a:solidFill>
                  <a:srgbClr val="222222"/>
                </a:solidFill>
                <a:latin typeface="Calibri"/>
              </a:rPr>
              <a:t>Ingestion Pipeline – Structure based chunking | </a:t>
            </a:r>
            <a:r>
              <a:rPr lang="en-IN" sz="2000" dirty="0" err="1">
                <a:solidFill>
                  <a:srgbClr val="222222"/>
                </a:solidFill>
                <a:latin typeface="Calibri"/>
              </a:rPr>
              <a:t>Chromadb</a:t>
            </a:r>
            <a:endParaRPr lang="en-IN" sz="2000" dirty="0">
              <a:solidFill>
                <a:srgbClr val="222222"/>
              </a:solidFill>
              <a:latin typeface="Calibri"/>
            </a:endParaRP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IN" sz="2000" b="0" dirty="0">
                <a:solidFill>
                  <a:srgbClr val="222222"/>
                </a:solidFill>
                <a:latin typeface="Calibri"/>
              </a:rPr>
              <a:t>Retrieval Pipeline – Keyword</a:t>
            </a:r>
            <a:r>
              <a:rPr lang="en-IN" sz="2000" dirty="0">
                <a:solidFill>
                  <a:srgbClr val="222222"/>
                </a:solidFill>
                <a:latin typeface="Calibri"/>
              </a:rPr>
              <a:t>, Bi-encoder, RRF, Cross encoder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IN" sz="2000" b="0" dirty="0">
                <a:solidFill>
                  <a:srgbClr val="222222"/>
                </a:solidFill>
                <a:latin typeface="Calibri"/>
              </a:rPr>
              <a:t>Generation – LLM + retrieved context (</a:t>
            </a:r>
            <a:r>
              <a:rPr lang="en-IN" sz="2000" b="1" dirty="0" err="1">
                <a:solidFill>
                  <a:srgbClr val="C00000"/>
                </a:solidFill>
                <a:latin typeface="Calibri"/>
              </a:rPr>
              <a:t>X</a:t>
            </a:r>
            <a:r>
              <a:rPr lang="en-IN" sz="2000" b="0" dirty="0" err="1">
                <a:solidFill>
                  <a:srgbClr val="222222"/>
                </a:solidFill>
                <a:latin typeface="Calibri"/>
              </a:rPr>
              <a:t>self</a:t>
            </a:r>
            <a:r>
              <a:rPr lang="en-IN" sz="2000" b="0" dirty="0">
                <a:solidFill>
                  <a:srgbClr val="222222"/>
                </a:solidFill>
                <a:latin typeface="Calibri"/>
              </a:rPr>
              <a:t>-refle</a:t>
            </a:r>
            <a:r>
              <a:rPr lang="en-IN" sz="2000" dirty="0">
                <a:solidFill>
                  <a:srgbClr val="222222"/>
                </a:solidFill>
                <a:latin typeface="Calibri"/>
              </a:rPr>
              <a:t>ction approach)</a:t>
            </a:r>
            <a:r>
              <a:rPr lang="en-IN" sz="2000" b="0" dirty="0">
                <a:solidFill>
                  <a:srgbClr val="222222"/>
                </a:solidFill>
                <a:latin typeface="Calibri"/>
              </a:rPr>
              <a:t>  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IN" sz="2000" dirty="0" err="1">
                <a:solidFill>
                  <a:srgbClr val="222222"/>
                </a:solidFill>
                <a:latin typeface="Calibri"/>
              </a:rPr>
              <a:t>Gradio</a:t>
            </a:r>
            <a:r>
              <a:rPr lang="en-IN" sz="2000" dirty="0">
                <a:solidFill>
                  <a:srgbClr val="222222"/>
                </a:solidFill>
                <a:latin typeface="Calibri"/>
              </a:rPr>
              <a:t> UI</a:t>
            </a:r>
            <a:endParaRPr lang="en-IN" sz="2000" b="0" dirty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B8591A-57F1-0699-E51B-24A5C6C7C4C9}"/>
              </a:ext>
            </a:extLst>
          </p:cNvPr>
          <p:cNvSpPr txBox="1"/>
          <p:nvPr/>
        </p:nvSpPr>
        <p:spPr>
          <a:xfrm>
            <a:off x="10241280" y="6473952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7B"/>
                </a:solidFill>
                <a:latin typeface="Calibri"/>
              </a:rPr>
              <a:t>IncidentPilot — Week 1</a:t>
            </a:r>
          </a:p>
        </p:txBody>
      </p:sp>
    </p:spTree>
    <p:extLst>
      <p:ext uri="{BB962C8B-B14F-4D97-AF65-F5344CB8AC3E}">
        <p14:creationId xmlns:p14="http://schemas.microsoft.com/office/powerpoint/2010/main" val="4252379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dirty="0">
                <a:solidFill>
                  <a:srgbClr val="1F2A44"/>
                </a:solidFill>
                <a:latin typeface="Calibri"/>
              </a:rPr>
              <a:t>Architecture Overview</a:t>
            </a:r>
            <a:r>
              <a:rPr lang="en-IN" sz="3000" b="1" dirty="0">
                <a:solidFill>
                  <a:srgbClr val="1F2A44"/>
                </a:solidFill>
                <a:latin typeface="Calibri"/>
              </a:rPr>
              <a:t> (What we have built)</a:t>
            </a:r>
            <a:endParaRPr sz="3000" b="1" dirty="0">
              <a:solidFill>
                <a:srgbClr val="1F2A44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88720" cy="38100"/>
          </a:xfrm>
          <a:prstGeom prst="rect">
            <a:avLst/>
          </a:prstGeom>
          <a:solidFill>
            <a:srgbClr val="E0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A6B7B"/>
                </a:solidFill>
                <a:latin typeface="Calibri"/>
              </a:rPr>
              <a:t>OFFLINE — One-Time Corpus Ingestion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17320"/>
            <a:ext cx="2468880" cy="1051560"/>
          </a:xfrm>
          <a:prstGeom prst="roundRect">
            <a:avLst/>
          </a:prstGeom>
          <a:solidFill>
            <a:srgbClr val="2E86AB"/>
          </a:solidFill>
          <a:ln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alibri"/>
              </a:rPr>
              <a:t>Corpus</a:t>
            </a:r>
          </a:p>
          <a:p>
            <a:pPr algn="ctr"/>
            <a:r>
              <a:rPr sz="1300" b="0" dirty="0">
                <a:solidFill>
                  <a:srgbClr val="FFFFFF"/>
                </a:solidFill>
                <a:latin typeface="Calibri"/>
              </a:rPr>
              <a:t>Runbooks · Postmortems · Code Docs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880360" y="1737360"/>
            <a:ext cx="365760" cy="411480"/>
          </a:xfrm>
          <a:prstGeom prst="rightArrow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291840" y="1417320"/>
            <a:ext cx="2743200" cy="1051560"/>
          </a:xfrm>
          <a:prstGeom prst="roundRect">
            <a:avLst/>
          </a:prstGeom>
          <a:solidFill>
            <a:srgbClr val="E07A3E"/>
          </a:solidFill>
          <a:ln>
            <a:solidFill>
              <a:srgbClr val="E0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Ingestion Pipeline</a:t>
            </a:r>
          </a:p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Parse H1 + metadata table -&gt; chunk by H2 section -&gt; embed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80760" y="1737360"/>
            <a:ext cx="365760" cy="411480"/>
          </a:xfrm>
          <a:prstGeom prst="rightArrow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92240" y="1417320"/>
            <a:ext cx="2468880" cy="1051560"/>
          </a:xfrm>
          <a:prstGeom prst="roundRect">
            <a:avLst/>
          </a:prstGeom>
          <a:solidFill>
            <a:srgbClr val="3EA066"/>
          </a:solidFill>
          <a:ln>
            <a:solidFill>
              <a:srgbClr val="3EA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Chroma Vector Store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(cosine similarity)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7360920" y="2514600"/>
            <a:ext cx="365760" cy="502920"/>
          </a:xfrm>
          <a:prstGeom prst="downArrow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18120" y="2542032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B7B"/>
                </a:solidFill>
                <a:latin typeface="Calibri"/>
              </a:rPr>
              <a:t>queried per-request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461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A6B7B"/>
                </a:solidFill>
                <a:latin typeface="Calibri"/>
              </a:rPr>
              <a:t>ONLINE — Per-Query Flow (Retrieval + Generation)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611880"/>
            <a:ext cx="1737360" cy="1417320"/>
          </a:xfrm>
          <a:prstGeom prst="roundRect">
            <a:avLst/>
          </a:prstGeom>
          <a:solidFill>
            <a:srgbClr val="2E86AB"/>
          </a:solidFill>
          <a:ln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User Query</a:t>
            </a:r>
          </a:p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(Gradio Chat UI)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148840" y="4114800"/>
            <a:ext cx="320040" cy="411480"/>
          </a:xfrm>
          <a:prstGeom prst="rightArrow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514600" y="3611880"/>
            <a:ext cx="2514600" cy="1417320"/>
          </a:xfrm>
          <a:prstGeom prst="roundRect">
            <a:avLst/>
          </a:prstGeom>
          <a:solidFill>
            <a:srgbClr val="E07A3E"/>
          </a:solidFill>
          <a:ln>
            <a:solidFill>
              <a:srgbClr val="E0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Retrieval Pipeline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BM25 + Bi-Encoder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-&gt; RRF Fusion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-&gt; Cross-Encoder Rerank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074920" y="4114800"/>
            <a:ext cx="320040" cy="411480"/>
          </a:xfrm>
          <a:prstGeom prst="rightArrow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440680" y="3611880"/>
            <a:ext cx="2331720" cy="1417320"/>
          </a:xfrm>
          <a:prstGeom prst="roundRect">
            <a:avLst/>
          </a:prstGeom>
          <a:solidFill>
            <a:srgbClr val="7B4FA6"/>
          </a:solidFill>
          <a:ln>
            <a:solidFill>
              <a:srgbClr val="7B4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RAG Prompt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Query + Retrieved Context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+ Citation/Guardrail Rules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818120" y="4114800"/>
            <a:ext cx="320040" cy="411480"/>
          </a:xfrm>
          <a:prstGeom prst="rightArrow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183879" y="3611880"/>
            <a:ext cx="1600200" cy="1417320"/>
          </a:xfrm>
          <a:prstGeom prst="roundRect">
            <a:avLst/>
          </a:prstGeom>
          <a:solidFill>
            <a:srgbClr val="7B4FA6"/>
          </a:solidFill>
          <a:ln>
            <a:solidFill>
              <a:srgbClr val="7B4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LLM</a:t>
            </a:r>
          </a:p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Groq</a:t>
            </a:r>
          </a:p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llama-3.3-70b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829800" y="4114800"/>
            <a:ext cx="320040" cy="411480"/>
          </a:xfrm>
          <a:prstGeom prst="rightArrow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195560" y="3611880"/>
            <a:ext cx="1627632" cy="1417320"/>
          </a:xfrm>
          <a:prstGeom prst="roundRect">
            <a:avLst/>
          </a:prstGeom>
          <a:solidFill>
            <a:srgbClr val="1A9E8F"/>
          </a:solidFill>
          <a:ln>
            <a:solidFill>
              <a:srgbClr val="1A9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IN" sz="1200" b="1" dirty="0">
                <a:solidFill>
                  <a:srgbClr val="FFFFFF"/>
                </a:solidFill>
                <a:latin typeface="Calibri"/>
              </a:rPr>
              <a:t>LLM Response</a:t>
            </a:r>
            <a:endParaRPr sz="1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241280" y="6473952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7B"/>
                </a:solidFill>
                <a:latin typeface="Calibri"/>
              </a:rPr>
              <a:t>IncidentPilot — Week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A44"/>
                </a:solidFill>
                <a:latin typeface="Calibri"/>
              </a:rPr>
              <a:t>Pipeline Breakdown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88720" cy="38100"/>
          </a:xfrm>
          <a:prstGeom prst="rect">
            <a:avLst/>
          </a:prstGeom>
          <a:solidFill>
            <a:srgbClr val="E0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457200"/>
          </a:xfrm>
          <a:prstGeom prst="roundRect">
            <a:avLst/>
          </a:prstGeom>
          <a:solidFill>
            <a:srgbClr val="2E86AB"/>
          </a:solidFill>
          <a:ln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 &amp; 2 — Data Sources &amp; 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Corpus (src/data/corpus/) — synthetic, production-style docs:</a:t>
            </a:r>
          </a:p>
          <a:p>
            <a:pPr lvl="1"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Runbooks — step-by-step diagnosis/mitigation procedures</a:t>
            </a:r>
          </a:p>
          <a:p>
            <a:pPr lvl="1"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Postmortems — SRE-style incident write-ups (summary, root cause, timeline, action items)</a:t>
            </a:r>
          </a:p>
          <a:p>
            <a:pPr lvl="1"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Code Docs — service architecture, dependencies, config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Ingestion pipeline:</a:t>
            </a:r>
          </a:p>
          <a:p>
            <a:pPr lvl="1"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Parse H1 title + metadata table (owner, severity, services)</a:t>
            </a:r>
          </a:p>
          <a:p>
            <a:pPr lvl="1"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Chunk by H2 section — one chunk per section, never merged</a:t>
            </a:r>
          </a:p>
          <a:p>
            <a:pPr lvl="1"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Embed each chunk, store in ChromaDB (cosine similarity)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97680"/>
            <a:ext cx="5486400" cy="457200"/>
          </a:xfrm>
          <a:prstGeom prst="roundRect">
            <a:avLst/>
          </a:prstGeom>
          <a:solidFill>
            <a:srgbClr val="7B4FA6"/>
          </a:solidFill>
          <a:ln>
            <a:solidFill>
              <a:srgbClr val="7B4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 — Response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92040"/>
            <a:ext cx="5486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 dirty="0">
                <a:solidFill>
                  <a:srgbClr val="222222"/>
                </a:solidFill>
                <a:latin typeface="Calibri"/>
              </a:rPr>
              <a:t>Retrieved chunks formatted with inline source citations</a:t>
            </a:r>
          </a:p>
          <a:p>
            <a:pPr>
              <a:spcAft>
                <a:spcPts val="600"/>
              </a:spcAft>
            </a:pPr>
            <a:r>
              <a:rPr sz="1400" b="0" dirty="0">
                <a:solidFill>
                  <a:srgbClr val="222222"/>
                </a:solidFill>
                <a:latin typeface="Calibri"/>
              </a:rPr>
              <a:t>System prompt enforces: cite documented facts vs. label agent inferences as "possible"</a:t>
            </a:r>
          </a:p>
          <a:p>
            <a:pPr>
              <a:spcAft>
                <a:spcPts val="600"/>
              </a:spcAft>
            </a:pPr>
            <a:r>
              <a:rPr sz="1400" b="0" dirty="0">
                <a:solidFill>
                  <a:srgbClr val="222222"/>
                </a:solidFill>
                <a:latin typeface="Calibri"/>
              </a:rPr>
              <a:t>Guardrail: never execute deploy/rollback/hotfix — draft steps for a human only</a:t>
            </a:r>
          </a:p>
          <a:p>
            <a:pPr>
              <a:spcAft>
                <a:spcPts val="600"/>
              </a:spcAft>
            </a:pPr>
            <a:r>
              <a:rPr sz="1400" b="0" dirty="0">
                <a:solidFill>
                  <a:srgbClr val="222222"/>
                </a:solidFill>
                <a:latin typeface="Calibri"/>
              </a:rPr>
              <a:t>LLM (</a:t>
            </a:r>
            <a:r>
              <a:rPr sz="1400" b="0" dirty="0" err="1">
                <a:solidFill>
                  <a:srgbClr val="222222"/>
                </a:solidFill>
                <a:latin typeface="Calibri"/>
              </a:rPr>
              <a:t>Groq</a:t>
            </a:r>
            <a:r>
              <a:rPr sz="1400" b="0" dirty="0">
                <a:solidFill>
                  <a:srgbClr val="222222"/>
                </a:solidFill>
                <a:latin typeface="Calibri"/>
              </a:rPr>
              <a:t> llama-3.3-70b) generates the final diagnosis, shown in the </a:t>
            </a:r>
            <a:r>
              <a:rPr sz="1400" b="0" dirty="0" err="1">
                <a:solidFill>
                  <a:srgbClr val="222222"/>
                </a:solidFill>
                <a:latin typeface="Calibri"/>
              </a:rPr>
              <a:t>Gradio</a:t>
            </a:r>
            <a:r>
              <a:rPr sz="1400" b="0" dirty="0">
                <a:solidFill>
                  <a:srgbClr val="222222"/>
                </a:solidFill>
                <a:latin typeface="Calibri"/>
              </a:rPr>
              <a:t> chat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188720"/>
            <a:ext cx="5486400" cy="457200"/>
          </a:xfrm>
          <a:prstGeom prst="roundRect">
            <a:avLst/>
          </a:prstGeom>
          <a:solidFill>
            <a:srgbClr val="E07A3E"/>
          </a:solidFill>
          <a:ln>
            <a:solidFill>
              <a:srgbClr val="E0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 — Retrieval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78308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BM25 keyword search</a:t>
            </a:r>
          </a:p>
          <a:p>
            <a:pPr lvl="1"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Exact-match precision for error strings, version numbers, incident IDs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Bi-encoder dense/semantic search</a:t>
            </a:r>
          </a:p>
          <a:p>
            <a:pPr lvl="1"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Chroma vector similarity — catches paraphrased/semantic matches BM25 misses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Reciprocal Rank Fusion (RRF)</a:t>
            </a:r>
          </a:p>
          <a:p>
            <a:pPr lvl="1"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Combines both ranked lists by rank position, not raw score</a:t>
            </a:r>
          </a:p>
          <a:p>
            <a:pPr lvl="1"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A chunk both retrievers agree on outranks one only a single retriever liked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Cross-encoder reranking</a:t>
            </a:r>
          </a:p>
          <a:p>
            <a:pPr lvl="1"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Final precision pass — jointly scores (query, chunk) pairs on the fused top-N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73952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7B"/>
                </a:solidFill>
                <a:latin typeface="Calibri"/>
              </a:rPr>
              <a:t>IncidentPilot — Week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C3C5D-33B1-8283-7534-856991999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B9C31A-F35A-8504-4E6A-EF1658B2E137}"/>
              </a:ext>
            </a:extLst>
          </p:cNvPr>
          <p:cNvSpPr txBox="1"/>
          <p:nvPr/>
        </p:nvSpPr>
        <p:spPr>
          <a:xfrm>
            <a:off x="5452632" y="2661680"/>
            <a:ext cx="12867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IN" sz="3000" b="1" dirty="0">
                <a:solidFill>
                  <a:srgbClr val="1F2A44"/>
                </a:solidFill>
                <a:latin typeface="Calibri"/>
              </a:rPr>
              <a:t>DEMO</a:t>
            </a:r>
            <a:endParaRPr sz="3000" b="1" dirty="0">
              <a:solidFill>
                <a:srgbClr val="1F2A44"/>
              </a:solidFill>
              <a:latin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DCFE5D-7578-1CAC-77A8-CB57D24BCF61}"/>
              </a:ext>
            </a:extLst>
          </p:cNvPr>
          <p:cNvSpPr/>
          <p:nvPr/>
        </p:nvSpPr>
        <p:spPr>
          <a:xfrm flipV="1">
            <a:off x="5129407" y="3224308"/>
            <a:ext cx="1810011" cy="45719"/>
          </a:xfrm>
          <a:prstGeom prst="rect">
            <a:avLst/>
          </a:prstGeom>
          <a:solidFill>
            <a:srgbClr val="E0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F256C6-3479-A9AD-FBB5-BA47894B3806}"/>
              </a:ext>
            </a:extLst>
          </p:cNvPr>
          <p:cNvSpPr txBox="1"/>
          <p:nvPr/>
        </p:nvSpPr>
        <p:spPr>
          <a:xfrm>
            <a:off x="10241280" y="6473952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dirty="0" err="1">
                <a:solidFill>
                  <a:srgbClr val="5A6B7B"/>
                </a:solidFill>
                <a:latin typeface="Calibri"/>
              </a:rPr>
              <a:t>IncidentPilot</a:t>
            </a:r>
            <a:r>
              <a:rPr sz="1000" b="0" dirty="0">
                <a:solidFill>
                  <a:srgbClr val="5A6B7B"/>
                </a:solidFill>
                <a:latin typeface="Calibri"/>
              </a:rPr>
              <a:t> — Week 1</a:t>
            </a:r>
          </a:p>
        </p:txBody>
      </p:sp>
    </p:spTree>
    <p:extLst>
      <p:ext uri="{BB962C8B-B14F-4D97-AF65-F5344CB8AC3E}">
        <p14:creationId xmlns:p14="http://schemas.microsoft.com/office/powerpoint/2010/main" val="761145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576</Words>
  <Application>Microsoft Office PowerPoint</Application>
  <PresentationFormat>Widescreen</PresentationFormat>
  <Paragraphs>85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Rathore, Ashish</cp:lastModifiedBy>
  <cp:revision>4</cp:revision>
  <dcterms:created xsi:type="dcterms:W3CDTF">2013-01-27T09:14:16Z</dcterms:created>
  <dcterms:modified xsi:type="dcterms:W3CDTF">2026-07-21T04:26:02Z</dcterms:modified>
  <cp:category/>
</cp:coreProperties>
</file>